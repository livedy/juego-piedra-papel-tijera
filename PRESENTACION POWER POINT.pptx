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integrador: Piedra, Papel o Tijera, un juego de consola en Python con librería propia. Autor: Darwin Alexis Pilaguano Toapanta.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iniciar es común amontonar todo en un archivo, mezclando lógica con entrada/salida. Eso genera programas difíciles de mantener. El reto: separar la lógica en una librería propia. Este juego se eligió porque ejercita cinco capacidades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integra las cuatro unidades del curso: diseño y diagramas, entorno y GitHub, estructuras lógicas, y modularidad.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son dos archivos que trabajan juntos: el programa principal maneja la consola y el bucle, e importa la librería propia, que contiene las funciones y las reglas. La librería usa el módulo estándar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flujo y el código coinciden exactamente. Cuando la jugada no es válida, el continue del código equivale a la flecha de error que regresa a Ingresar jugada.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librería propia logica_ppt.py contiene cuatro funciones: es_valida comprueba la jugada, jugada_maquina genera la elección aleatoria, determinar_ganador decide el resultado con el diccionario GANA_A, y mensaje_resultado arma el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es un juego sencillo, refleja principios de cualquier solución tecnológica: validar entradas, manejar errores y organizar el código de forma modular. La calidad de un software no depende solo de que funcione, sino de que esté bien planificado, sea legible y pueda mantenerse y crecer.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El repositorio en GitHub contiene el código, los diagramas y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1C2B">
                  <a:alpha val="100000"/>
                </a:srgbClr>
              </a:gs>
              <a:gs pos="55000">
                <a:srgbClr val="0D1117">
                  <a:alpha val="100000"/>
                </a:srgbClr>
              </a:gs>
            </a:gsLst>
            <a:path path="circle">
              <a:fillToRect l="80000" t="0" r="2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028700" y="947737"/>
            <a:ext cx="123825" cy="123825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228725" y="947737"/>
            <a:ext cx="123825" cy="123825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428750" y="947737"/>
            <a:ext cx="123825" cy="123825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/>
          <p:nvPr/>
        </p:nvSpPr>
        <p:spPr>
          <a:xfrm>
            <a:off x="1685925" y="876300"/>
            <a:ext cx="18482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PROYECTOPPT.py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4979015" y="876300"/>
            <a:ext cx="25083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INTEGRADOR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28700" y="2289453"/>
            <a:ext cx="1571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Lógica de Programación · Proyecto integrador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028700" y="2880003"/>
            <a:ext cx="14716125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192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Piedra, Papel o Tijera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028700" y="5593437"/>
            <a:ext cx="10791825" cy="98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de consola en Python, con la lógica separada en una </a:t>
            </a:r>
            <a:pPr algn="l" indent="0" marL="0">
              <a:buNone/>
            </a:pPr>
            <a:r>
              <a:rPr lang="en-US" sz="25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librería propia </a:t>
            </a:r>
            <a:pPr algn="l" indent="0" marL="0">
              <a:buNone/>
            </a:pPr>
            <a:r>
              <a:rPr lang="en-US" sz="2850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importada al programa principal.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28700" y="6938367"/>
            <a:ext cx="157162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80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</a:t>
            </a:r>
            <a:pPr algn="l" indent="0" marL="0">
              <a:buNone/>
            </a:pPr>
            <a:r>
              <a:rPr lang="en-US" sz="1800" dirty="0">
                <a:solidFill>
                  <a:srgbClr val="5C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PROYECTOPPT.py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28700" y="8420100"/>
            <a:ext cx="16230600" cy="9525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8713470"/>
            <a:ext cx="569530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Darwin Alexis Pilaguano Toapanta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28700" y="9098280"/>
            <a:ext cx="569530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en Sistemas · Lógica de Programación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4021753" y="8785860"/>
            <a:ext cx="3237548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UIDE · Quito – Ecuador Junio 2026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· Motivación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8700" y="1276350"/>
            <a:ext cx="1785366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28700" y="2430780"/>
            <a:ext cx="396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58290" y="2430780"/>
            <a:ext cx="806051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iniciar en la programación es común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amontonar todo el código en un solo archivo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mezclando la lógica con la entrada y salida de datos.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28700" y="3997643"/>
            <a:ext cx="396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8290" y="3997643"/>
            <a:ext cx="829922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genera programas difíciles de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leer, mantener y ampliar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28700" y="4735830"/>
            <a:ext cx="22288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84935" y="4735830"/>
            <a:ext cx="8239068" cy="1288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juego funcional pero bien organizado, separando la lógica en una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 propia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importa para reducir el código principal.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993631" y="2430780"/>
            <a:ext cx="7265551" cy="3672840"/>
          </a:xfrm>
          <a:prstGeom prst="roundRect">
            <a:avLst>
              <a:gd name="adj" fmla="val 3631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2250" y="2800350"/>
            <a:ext cx="71371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este juego?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0382250" y="3333750"/>
            <a:ext cx="20716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665619" y="3333750"/>
            <a:ext cx="298467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 entrada del usuario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382250" y="3855720"/>
            <a:ext cx="20716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665619" y="3855720"/>
            <a:ext cx="155757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errores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382250" y="4377690"/>
            <a:ext cx="20716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665619" y="4377690"/>
            <a:ext cx="28051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valores aleatorios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382250" y="4899660"/>
            <a:ext cx="20716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665619" y="4899660"/>
            <a:ext cx="244911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según reglas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382250" y="5421630"/>
            <a:ext cx="20716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665619" y="5421630"/>
            <a:ext cx="2481739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un marcador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· Alcance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8700" y="1276350"/>
            <a:ext cx="1785366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las 4 unidades del curso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28700" y="2430780"/>
            <a:ext cx="7962900" cy="3337560"/>
          </a:xfrm>
          <a:prstGeom prst="roundRect">
            <a:avLst>
              <a:gd name="adj" fmla="val 3995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6370" y="2800350"/>
            <a:ext cx="786231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8A6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436370" y="3516630"/>
            <a:ext cx="78623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diagramas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36370" y="4011930"/>
            <a:ext cx="78623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Flujograma y diagrama de arquitectura que reflejan el sistema.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96400" y="2430780"/>
            <a:ext cx="7962900" cy="3337560"/>
          </a:xfrm>
          <a:prstGeom prst="roundRect">
            <a:avLst>
              <a:gd name="adj" fmla="val 3995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04070" y="2800350"/>
            <a:ext cx="786231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8A6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04070" y="3516630"/>
            <a:ext cx="78623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y GitHub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704070" y="4011930"/>
            <a:ext cx="78623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para versionar el código y documentar el desarrollo.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28700" y="6073140"/>
            <a:ext cx="7962900" cy="3337560"/>
          </a:xfrm>
          <a:prstGeom prst="roundRect">
            <a:avLst>
              <a:gd name="adj" fmla="val 3995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6370" y="6442710"/>
            <a:ext cx="786231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8A6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436370" y="7158990"/>
            <a:ext cx="78623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lógicas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36370" y="7654290"/>
            <a:ext cx="73619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condicionales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if/elif/else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flujo del juego.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96400" y="6073140"/>
            <a:ext cx="7962900" cy="3337560"/>
          </a:xfrm>
          <a:prstGeom prst="roundRect">
            <a:avLst>
              <a:gd name="adj" fmla="val 3995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4070" y="6442710"/>
            <a:ext cx="7862316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8A6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704070" y="7158990"/>
            <a:ext cx="78623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Modularidad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04070" y="7654290"/>
            <a:ext cx="78623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separada en una librería propia que se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· Estructura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8700" y="1276350"/>
            <a:ext cx="1785366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28700" y="2030730"/>
            <a:ext cx="1785366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archivos que trabajan juntos: el principal importa la librería propia.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28700" y="2762250"/>
            <a:ext cx="7304008" cy="6648450"/>
          </a:xfrm>
          <a:prstGeom prst="roundRect">
            <a:avLst>
              <a:gd name="adj" fmla="val 2292"/>
            </a:avLst>
          </a:prstGeom>
          <a:solidFill>
            <a:srgbClr val="11161E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1120" y="311372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560195" y="3055620"/>
            <a:ext cx="176061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PROYECTOPPT.py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48093" y="3059430"/>
            <a:ext cx="150941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principal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341120" y="3505200"/>
            <a:ext cx="6679168" cy="472440"/>
          </a:xfrm>
          <a:prstGeom prst="roundRect">
            <a:avLst>
              <a:gd name="adj" fmla="val 20161"/>
            </a:avLst>
          </a:prstGeom>
          <a:ln w="7620">
            <a:solidFill>
              <a:srgbClr val="2A334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362853" y="3627120"/>
            <a:ext cx="66357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ctr" indent="0" marL="0">
              <a:buNone/>
            </a:pPr>
            <a:r>
              <a:rPr lang="en-US" sz="13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· juega en consola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7162" y="4130040"/>
            <a:ext cx="73470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41120" y="4400550"/>
            <a:ext cx="6679168" cy="594360"/>
          </a:xfrm>
          <a:prstGeom prst="roundRect">
            <a:avLst>
              <a:gd name="adj" fmla="val 16026"/>
            </a:avLst>
          </a:prstGeom>
          <a:solidFill>
            <a:srgbClr val="58A6FF">
              <a:alpha val="8000"/>
            </a:srgbClr>
          </a:solidFill>
          <a:ln w="7620">
            <a:solidFill>
              <a:srgbClr val="58A6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0953" y="4560570"/>
            <a:ext cx="65595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6EDF3"/>
                </a:solidFill>
                <a:highlight>
                  <a:srgbClr val="F2F8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Entrada / Salida </a:t>
            </a:r>
            <a:pPr algn="ctr" indent="0" marL="0">
              <a:buNone/>
            </a:pPr>
            <a:r>
              <a:rPr lang="en-US" sz="13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 · print)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7162" y="5013960"/>
            <a:ext cx="73470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41120" y="5284470"/>
            <a:ext cx="6679168" cy="594360"/>
          </a:xfrm>
          <a:prstGeom prst="roundRect">
            <a:avLst>
              <a:gd name="adj" fmla="val 16026"/>
            </a:avLst>
          </a:prstGeom>
          <a:solidFill>
            <a:srgbClr val="58A6FF">
              <a:alpha val="8000"/>
            </a:srgbClr>
          </a:solidFill>
          <a:ln w="7620">
            <a:solidFill>
              <a:srgbClr val="58A6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0953" y="5444490"/>
            <a:ext cx="65595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6EDF3"/>
                </a:solidFill>
                <a:highlight>
                  <a:srgbClr val="F2F8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Bucle del juego </a:t>
            </a:r>
            <a:pPr algn="ctr" indent="0" marL="0">
              <a:buNone/>
            </a:pPr>
            <a:r>
              <a:rPr lang="en-US" sz="13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7162" y="5897880"/>
            <a:ext cx="73470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41120" y="6168390"/>
            <a:ext cx="6679168" cy="594360"/>
          </a:xfrm>
          <a:prstGeom prst="roundRect">
            <a:avLst>
              <a:gd name="adj" fmla="val 16026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0953" y="6328410"/>
            <a:ext cx="65595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E6EDF3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Control del marcador </a:t>
            </a:r>
            <a:pPr algn="ctr" indent="0" marL="0">
              <a:buNone/>
            </a:pPr>
            <a:r>
              <a:rPr lang="en-US" sz="13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usuarioG / maquinaG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618458" y="5654040"/>
            <a:ext cx="762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96338" y="6008370"/>
            <a:ext cx="40612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D2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590008" y="2762250"/>
            <a:ext cx="7669292" cy="6648450"/>
          </a:xfrm>
          <a:prstGeom prst="roundRect">
            <a:avLst>
              <a:gd name="adj" fmla="val 2292"/>
            </a:avLst>
          </a:prstGeom>
          <a:solidFill>
            <a:srgbClr val="11161E"/>
          </a:solidFill>
          <a:ln w="7620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2428" y="3113722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D2A8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1503" y="3055620"/>
            <a:ext cx="163488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logica_ppt.py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932230" y="3059430"/>
            <a:ext cx="10908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 propia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9902428" y="3505200"/>
            <a:ext cx="3465076" cy="510540"/>
          </a:xfrm>
          <a:prstGeom prst="roundRect">
            <a:avLst>
              <a:gd name="adj" fmla="val 18657"/>
            </a:avLst>
          </a:prstGeom>
          <a:solidFill>
            <a:srgbClr val="D2A8FF">
              <a:alpha val="8000"/>
            </a:srgbClr>
          </a:solidFill>
          <a:ln w="7620">
            <a:solidFill>
              <a:srgbClr val="D2A8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91422" y="3646170"/>
            <a:ext cx="3287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es_valida()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3481804" y="3505200"/>
            <a:ext cx="3465076" cy="510540"/>
          </a:xfrm>
          <a:prstGeom prst="roundRect">
            <a:avLst>
              <a:gd name="adj" fmla="val 18657"/>
            </a:avLst>
          </a:prstGeom>
          <a:solidFill>
            <a:srgbClr val="D2A8FF">
              <a:alpha val="8000"/>
            </a:srgbClr>
          </a:solidFill>
          <a:ln w="7620">
            <a:solidFill>
              <a:srgbClr val="D2A8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70798" y="3646170"/>
            <a:ext cx="3287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jugada_maquina()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902428" y="4130040"/>
            <a:ext cx="3465076" cy="510540"/>
          </a:xfrm>
          <a:prstGeom prst="roundRect">
            <a:avLst>
              <a:gd name="adj" fmla="val 18657"/>
            </a:avLst>
          </a:prstGeom>
          <a:solidFill>
            <a:srgbClr val="D2A8FF">
              <a:alpha val="8000"/>
            </a:srgbClr>
          </a:solidFill>
          <a:ln w="7620">
            <a:solidFill>
              <a:srgbClr val="D2A8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1422" y="4271010"/>
            <a:ext cx="3287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determinar_ganador()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3481804" y="4130040"/>
            <a:ext cx="3465076" cy="510540"/>
          </a:xfrm>
          <a:prstGeom prst="roundRect">
            <a:avLst>
              <a:gd name="adj" fmla="val 18657"/>
            </a:avLst>
          </a:prstGeom>
          <a:solidFill>
            <a:srgbClr val="D2A8FF">
              <a:alpha val="8000"/>
            </a:srgbClr>
          </a:solidFill>
          <a:ln w="7620">
            <a:solidFill>
              <a:srgbClr val="D2A8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570798" y="4271010"/>
            <a:ext cx="32870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mensaje_resultado()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902428" y="4773930"/>
            <a:ext cx="7044452" cy="552450"/>
          </a:xfrm>
          <a:prstGeom prst="roundRect">
            <a:avLst>
              <a:gd name="adj" fmla="val 17241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47256" y="4924425"/>
            <a:ext cx="695479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DF3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Datos / Reglas </a:t>
            </a:r>
            <a:pPr algn="ctr" indent="0" marL="0"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OPCIONES · GANA_A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3990082" y="8808720"/>
            <a:ext cx="348735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4376917" y="8808720"/>
            <a:ext cx="24765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4662667" y="8721090"/>
            <a:ext cx="937260" cy="396240"/>
          </a:xfrm>
          <a:prstGeom prst="roundRect">
            <a:avLst>
              <a:gd name="adj" fmla="val 19231"/>
            </a:avLst>
          </a:prstGeom>
          <a:solidFill>
            <a:srgbClr val="FFA657">
              <a:alpha val="10000"/>
            </a:srgbClr>
          </a:solidFill>
          <a:ln w="7620">
            <a:solidFill>
              <a:srgbClr val="FFA657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822687" y="8804910"/>
            <a:ext cx="693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5714226" y="8812530"/>
            <a:ext cx="13559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C6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estándar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· Flujo de ejecución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8700" y="1276350"/>
            <a:ext cx="1785366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y código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28700" y="2335530"/>
            <a:ext cx="7063740" cy="12934236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7620">
            <a:solidFill>
              <a:srgbClr val="2A33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45870" y="2552819"/>
            <a:ext cx="6629281" cy="124996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25840" y="2335530"/>
            <a:ext cx="8633460" cy="12934236"/>
          </a:xfrm>
          <a:prstGeom prst="roundRect">
            <a:avLst>
              <a:gd name="adj" fmla="val 1545"/>
            </a:avLst>
          </a:prstGeom>
          <a:solidFill>
            <a:srgbClr val="11161E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33460" y="2343150"/>
            <a:ext cx="8618220" cy="5410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5"/>
          <p:cNvSpPr/>
          <p:nvPr/>
        </p:nvSpPr>
        <p:spPr>
          <a:xfrm>
            <a:off x="8633460" y="2876550"/>
            <a:ext cx="8618220" cy="9525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9" name="Shape 6"/>
          <p:cNvSpPr/>
          <p:nvPr/>
        </p:nvSpPr>
        <p:spPr>
          <a:xfrm>
            <a:off x="8862060" y="2557463"/>
            <a:ext cx="104775" cy="104775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9033510" y="2557463"/>
            <a:ext cx="104775" cy="104775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9204960" y="2557463"/>
            <a:ext cx="104775" cy="104775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9481185" y="2495550"/>
            <a:ext cx="15841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PROYECTOPPT.py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957310" y="3169920"/>
            <a:ext cx="8209635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logica_ppt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juego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57310" y="3729038"/>
            <a:ext cx="8209635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juego.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es_valida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(usuario):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338310" y="4116705"/>
            <a:ext cx="7828635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"Ingrese correctamente la palabra"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881110" y="4523422"/>
            <a:ext cx="8122920" cy="387668"/>
          </a:xfrm>
          <a:prstGeom prst="roundRect">
            <a:avLst>
              <a:gd name="adj" fmla="val 14742"/>
            </a:avLst>
          </a:prstGeom>
          <a:solidFill>
            <a:srgbClr val="FF7B72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338310" y="4523422"/>
            <a:ext cx="7833207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6E7A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vuelve a pedir la jugada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957310" y="5101590"/>
            <a:ext cx="8209635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maquina = juego.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jugada_maquina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957310" y="5489257"/>
            <a:ext cx="8209635" cy="425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juego.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determinar_ganador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(usuario, maquina)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8633460" y="14247734"/>
            <a:ext cx="8618220" cy="101441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8"/>
          <p:cNvSpPr/>
          <p:nvPr/>
        </p:nvSpPr>
        <p:spPr>
          <a:xfrm>
            <a:off x="8633460" y="14247734"/>
            <a:ext cx="8618220" cy="9525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22" name="Text 19"/>
          <p:cNvSpPr/>
          <p:nvPr/>
        </p:nvSpPr>
        <p:spPr>
          <a:xfrm>
            <a:off x="8919210" y="14464904"/>
            <a:ext cx="8305266" cy="625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09DAC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09DAC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equivale a la flecha de error del diagrama, que regresa a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«Ingresar jugada»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09DAC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y código coinciden exactamente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909DAC"/>
                </a:solidFill>
                <a:highlight>
                  <a:srgbClr val="161B2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· Modularidad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8700" y="1276350"/>
            <a:ext cx="178536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librería propia: </a:t>
            </a:r>
            <a:pPr algn="l" indent="0" marL="0">
              <a:buNone/>
            </a:pPr>
            <a:r>
              <a:rPr lang="en-US" sz="3900" b="1" spc="-46" kern="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logica_ppt.py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28700" y="2045970"/>
            <a:ext cx="1785366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funciones concentran toda la lógica del juego, fuera del programa principal.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1028700" y="2777490"/>
            <a:ext cx="7972425" cy="317373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8270" y="3108960"/>
            <a:ext cx="79566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buNone/>
            </a:pPr>
            <a:r>
              <a:rPr lang="en-US" sz="22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es_valida</a:t>
            </a:r>
            <a:pPr algn="l" indent="0" marL="0">
              <a:buNone/>
            </a:pPr>
            <a:r>
              <a:rPr lang="en-US" sz="22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8270" y="3634740"/>
            <a:ext cx="79566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Comprueba que la jugada ingresada sea correcta.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86875" y="2777490"/>
            <a:ext cx="7972425" cy="317373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6445" y="3108960"/>
            <a:ext cx="79566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buNone/>
            </a:pPr>
            <a:r>
              <a:rPr lang="en-US" sz="22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jugada_maquina</a:t>
            </a:r>
            <a:pPr algn="l" indent="0" marL="0">
              <a:buNone/>
            </a:pPr>
            <a:r>
              <a:rPr lang="en-US" sz="22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56445" y="3634740"/>
            <a:ext cx="79566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la elección aleatoria de la máquina con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28700" y="6236970"/>
            <a:ext cx="7972425" cy="317373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8270" y="6568440"/>
            <a:ext cx="79566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buNone/>
            </a:pPr>
            <a:r>
              <a:rPr lang="en-US" sz="22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determinar_ganador</a:t>
            </a:r>
            <a:pPr algn="l" indent="0" marL="0">
              <a:buNone/>
            </a:pPr>
            <a:r>
              <a:rPr lang="en-US" sz="22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98270" y="7094220"/>
            <a:ext cx="79566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el resultado usando un diccionario de reglas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GANA_A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86875" y="6236970"/>
            <a:ext cx="7972425" cy="3173730"/>
          </a:xfrm>
          <a:prstGeom prst="roundRect">
            <a:avLst>
              <a:gd name="adj" fmla="val 4202"/>
            </a:avLst>
          </a:prstGeom>
          <a:solidFill>
            <a:srgbClr val="161B22"/>
          </a:solidFill>
          <a:ln w="7620">
            <a:solidFill>
              <a:srgbClr val="2A3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6445" y="6568440"/>
            <a:ext cx="79566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buNone/>
            </a:pPr>
            <a:r>
              <a:rPr lang="en-US" sz="22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mensaje_resultado</a:t>
            </a:r>
            <a:pPr algn="l" indent="0" marL="0">
              <a:buNone/>
            </a:pPr>
            <a:r>
              <a:rPr lang="en-US" sz="225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56445" y="7094220"/>
            <a:ext cx="79566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texto que se muestra al usuario.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1C2B">
                  <a:alpha val="100000"/>
                </a:srgbClr>
              </a:gs>
              <a:gs pos="55000">
                <a:srgbClr val="0D1117">
                  <a:alpha val="100000"/>
                </a:srgbClr>
              </a:gs>
            </a:gsLst>
            <a:path path="circle">
              <a:fillToRect l="15000" t="100000" r="85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28700" y="876300"/>
            <a:ext cx="178536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· Cierre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1028700" y="1276350"/>
            <a:ext cx="17853660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spc="-46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y reflexión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28700" y="4768215"/>
            <a:ext cx="806443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es un juego sencillo, refleja principios presentes en cualquier solución tecnológica: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entradas, manejar errores y organizar el código de forma modular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28700" y="6339840"/>
            <a:ext cx="806443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Detrás de cada aplicación que la sociedad usa hay lógica de programación bien estructurada.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429750" y="4558665"/>
            <a:ext cx="22860" cy="27051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9833610" y="4634865"/>
            <a:ext cx="81682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reflexión */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33610" y="5053965"/>
            <a:ext cx="7648461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 un software no depende solo de que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sino de que esté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planificado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sea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legible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pueda 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mantenerse y crecer</a:t>
            </a:r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1C2B">
                  <a:alpha val="100000"/>
                </a:srgbClr>
              </a:gs>
              <a:gs pos="55000">
                <a:srgbClr val="0D1117">
                  <a:alpha val="100000"/>
                </a:srgbClr>
              </a:gs>
            </a:gsLst>
            <a:path path="circle">
              <a:fillToRect l="80000" t="100000" r="2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28700" y="3127058"/>
            <a:ext cx="178536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800" dirty="0">
                <a:solidFill>
                  <a:srgbClr val="909D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 proyecto-ppt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28700" y="3774758"/>
            <a:ext cx="17853660" cy="1377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0" b="1" spc="-333" kern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11100" dirty="0"/>
          </a:p>
        </p:txBody>
      </p:sp>
      <p:sp>
        <p:nvSpPr>
          <p:cNvPr id="5" name="Text 3"/>
          <p:cNvSpPr/>
          <p:nvPr/>
        </p:nvSpPr>
        <p:spPr>
          <a:xfrm>
            <a:off x="1028700" y="5525453"/>
            <a:ext cx="24872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2672" y="5494973"/>
            <a:ext cx="9799999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909D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en GitHub · </a:t>
            </a:r>
            <a:pPr algn="l" indent="0" marL="0">
              <a:buNone/>
            </a:pPr>
            <a:r>
              <a:rPr lang="en-US" sz="2850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+ Diagramas + README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28700" y="6538913"/>
            <a:ext cx="16230600" cy="9525"/>
          </a:xfrm>
          <a:prstGeom prst="rect">
            <a:avLst/>
          </a:prstGeom>
          <a:solidFill>
            <a:srgbClr val="1E2630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6832282"/>
            <a:ext cx="47472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Darwin Alexis Pilaguano Toapanta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587538" y="6847523"/>
            <a:ext cx="267176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UIDE · Junio 2026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2026-06-28T14:14:27Z</dcterms:created>
  <dcterms:modified xsi:type="dcterms:W3CDTF">2026-06-28T14:14:27Z</dcterms:modified>
</cp:coreProperties>
</file>